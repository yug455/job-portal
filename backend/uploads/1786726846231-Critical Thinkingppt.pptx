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1"/>
    <p:sldMasterId id="2147483680" r:id="rId2"/>
    <p:sldMasterId id="2147483682" r:id="rId3"/>
    <p:sldMasterId id="2147483701" r:id="rId4"/>
    <p:sldMasterId id="2147483719" r:id="rId5"/>
    <p:sldMasterId id="2147483737" r:id="rId6"/>
  </p:sldMasterIdLst>
  <p:sldIdLst>
    <p:sldId id="270" r:id="rId7"/>
    <p:sldId id="257" r:id="rId8"/>
    <p:sldId id="258" r:id="rId9"/>
    <p:sldId id="259" r:id="rId10"/>
    <p:sldId id="262" r:id="rId11"/>
    <p:sldId id="265" r:id="rId12"/>
    <p:sldId id="264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2ABA0-B9CB-4B02-A0E5-2BD88B2F9E35}" v="14" dt="2026-01-20T14:13:48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hi Mahajan" userId="508cbd52192b37ae" providerId="LiveId" clId="{718129E0-92B2-46A6-A5A8-7A6677DF045C}"/>
    <pc:docChg chg="undo custSel modSld modMainMaster">
      <pc:chgData name="Vidhi Mahajan" userId="508cbd52192b37ae" providerId="LiveId" clId="{718129E0-92B2-46A6-A5A8-7A6677DF045C}" dt="2026-01-20T14:13:48.939" v="164"/>
      <pc:docMkLst>
        <pc:docMk/>
      </pc:docMkLst>
      <pc:sldChg chg="setBg">
        <pc:chgData name="Vidhi Mahajan" userId="508cbd52192b37ae" providerId="LiveId" clId="{718129E0-92B2-46A6-A5A8-7A6677DF045C}" dt="2026-01-20T14:13:48.939" v="164"/>
        <pc:sldMkLst>
          <pc:docMk/>
          <pc:sldMk cId="0" sldId="256"/>
        </pc:sldMkLst>
      </pc:sldChg>
      <pc:sldChg chg="setBg">
        <pc:chgData name="Vidhi Mahajan" userId="508cbd52192b37ae" providerId="LiveId" clId="{718129E0-92B2-46A6-A5A8-7A6677DF045C}" dt="2026-01-20T14:13:48.939" v="164"/>
        <pc:sldMkLst>
          <pc:docMk/>
          <pc:sldMk cId="0" sldId="258"/>
        </pc:sldMkLst>
      </pc:sldChg>
      <pc:sldChg chg="modSp mod">
        <pc:chgData name="Vidhi Mahajan" userId="508cbd52192b37ae" providerId="LiveId" clId="{718129E0-92B2-46A6-A5A8-7A6677DF045C}" dt="2026-01-20T13:38:12.205" v="42" actId="20577"/>
        <pc:sldMkLst>
          <pc:docMk/>
          <pc:sldMk cId="3256370998" sldId="263"/>
        </pc:sldMkLst>
        <pc:spChg chg="mod">
          <ac:chgData name="Vidhi Mahajan" userId="508cbd52192b37ae" providerId="LiveId" clId="{718129E0-92B2-46A6-A5A8-7A6677DF045C}" dt="2026-01-20T13:38:12.205" v="42" actId="20577"/>
          <ac:spMkLst>
            <pc:docMk/>
            <pc:sldMk cId="3256370998" sldId="263"/>
            <ac:spMk id="3" creationId="{49F9527C-4D80-F507-3A4B-833F695CB9A8}"/>
          </ac:spMkLst>
        </pc:spChg>
      </pc:sldChg>
      <pc:sldChg chg="setBg">
        <pc:chgData name="Vidhi Mahajan" userId="508cbd52192b37ae" providerId="LiveId" clId="{718129E0-92B2-46A6-A5A8-7A6677DF045C}" dt="2026-01-20T14:13:48.939" v="164"/>
        <pc:sldMkLst>
          <pc:docMk/>
          <pc:sldMk cId="2881506071" sldId="264"/>
        </pc:sldMkLst>
      </pc:sldChg>
      <pc:sldChg chg="addSp delSp modSp mod">
        <pc:chgData name="Vidhi Mahajan" userId="508cbd52192b37ae" providerId="LiveId" clId="{718129E0-92B2-46A6-A5A8-7A6677DF045C}" dt="2026-01-20T13:58:58.312" v="119" actId="122"/>
        <pc:sldMkLst>
          <pc:docMk/>
          <pc:sldMk cId="1635593661" sldId="265"/>
        </pc:sldMkLst>
        <pc:spChg chg="mod">
          <ac:chgData name="Vidhi Mahajan" userId="508cbd52192b37ae" providerId="LiveId" clId="{718129E0-92B2-46A6-A5A8-7A6677DF045C}" dt="2026-01-20T13:58:58.312" v="119" actId="122"/>
          <ac:spMkLst>
            <pc:docMk/>
            <pc:sldMk cId="1635593661" sldId="265"/>
            <ac:spMk id="3" creationId="{87A8635C-65C6-71DA-B9EA-0ECA1AA3A462}"/>
          </ac:spMkLst>
        </pc:spChg>
        <pc:spChg chg="add del">
          <ac:chgData name="Vidhi Mahajan" userId="508cbd52192b37ae" providerId="LiveId" clId="{718129E0-92B2-46A6-A5A8-7A6677DF045C}" dt="2026-01-20T13:37:47.257" v="40" actId="22"/>
          <ac:spMkLst>
            <pc:docMk/>
            <pc:sldMk cId="1635593661" sldId="265"/>
            <ac:spMk id="4" creationId="{491A74E1-B1C8-14D0-8EDF-A36825520D65}"/>
          </ac:spMkLst>
        </pc:spChg>
        <pc:spChg chg="add del mod">
          <ac:chgData name="Vidhi Mahajan" userId="508cbd52192b37ae" providerId="LiveId" clId="{718129E0-92B2-46A6-A5A8-7A6677DF045C}" dt="2026-01-20T13:40:49.726" v="64"/>
          <ac:spMkLst>
            <pc:docMk/>
            <pc:sldMk cId="1635593661" sldId="265"/>
            <ac:spMk id="6" creationId="{E6D8534B-A356-8C8B-4ADF-F505FD3363F9}"/>
          </ac:spMkLst>
        </pc:spChg>
        <pc:spChg chg="add del mod">
          <ac:chgData name="Vidhi Mahajan" userId="508cbd52192b37ae" providerId="LiveId" clId="{718129E0-92B2-46A6-A5A8-7A6677DF045C}" dt="2026-01-20T13:40:59.134" v="68" actId="22"/>
          <ac:spMkLst>
            <pc:docMk/>
            <pc:sldMk cId="1635593661" sldId="265"/>
            <ac:spMk id="8" creationId="{81144ACC-0369-72C2-E3CB-9176C11B62B6}"/>
          </ac:spMkLst>
        </pc:spChg>
        <pc:spChg chg="add mod">
          <ac:chgData name="Vidhi Mahajan" userId="508cbd52192b37ae" providerId="LiveId" clId="{718129E0-92B2-46A6-A5A8-7A6677DF045C}" dt="2026-01-20T13:58:50.452" v="117" actId="14100"/>
          <ac:spMkLst>
            <pc:docMk/>
            <pc:sldMk cId="1635593661" sldId="265"/>
            <ac:spMk id="10" creationId="{87405FD0-0D07-83EB-02EF-AC15EF83D4E8}"/>
          </ac:spMkLst>
        </pc:spChg>
      </pc:sldChg>
      <pc:sldMasterChg chg="setBg modSldLayout">
        <pc:chgData name="Vidhi Mahajan" userId="508cbd52192b37ae" providerId="LiveId" clId="{718129E0-92B2-46A6-A5A8-7A6677DF045C}" dt="2026-01-20T14:13:48.939" v="164"/>
        <pc:sldMasterMkLst>
          <pc:docMk/>
          <pc:sldMasterMk cId="0" sldId="2147483648"/>
        </pc:sldMasterMkLst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setBg modSldLayout">
        <pc:chgData name="Vidhi Mahajan" userId="508cbd52192b37ae" providerId="LiveId" clId="{718129E0-92B2-46A6-A5A8-7A6677DF045C}" dt="2026-01-20T14:13:48.939" v="164"/>
        <pc:sldMasterMkLst>
          <pc:docMk/>
          <pc:sldMasterMk cId="0" sldId="2147483650"/>
        </pc:sldMasterMkLst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1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2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3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4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5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6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7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8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59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0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1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2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3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4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5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6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7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8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69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70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71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72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73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74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50"/>
            <pc:sldLayoutMk cId="0" sldId="2147483675"/>
          </pc:sldLayoutMkLst>
        </pc:sldLayoutChg>
      </pc:sldMasterChg>
      <pc:sldMasterChg chg="setBg modSldLayout">
        <pc:chgData name="Vidhi Mahajan" userId="508cbd52192b37ae" providerId="LiveId" clId="{718129E0-92B2-46A6-A5A8-7A6677DF045C}" dt="2026-01-20T14:13:48.939" v="164"/>
        <pc:sldMasterMkLst>
          <pc:docMk/>
          <pc:sldMasterMk cId="0" sldId="2147483676"/>
        </pc:sldMasterMkLst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76"/>
            <pc:sldLayoutMk cId="0" sldId="2147483677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76"/>
            <pc:sldLayoutMk cId="0" sldId="2147483678"/>
          </pc:sldLayoutMkLst>
        </pc:sldLayoutChg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76"/>
            <pc:sldLayoutMk cId="0" sldId="2147483679"/>
          </pc:sldLayoutMkLst>
        </pc:sldLayoutChg>
      </pc:sldMasterChg>
      <pc:sldMasterChg chg="setBg modSldLayout">
        <pc:chgData name="Vidhi Mahajan" userId="508cbd52192b37ae" providerId="LiveId" clId="{718129E0-92B2-46A6-A5A8-7A6677DF045C}" dt="2026-01-20T14:13:48.939" v="164"/>
        <pc:sldMasterMkLst>
          <pc:docMk/>
          <pc:sldMasterMk cId="0" sldId="2147483680"/>
        </pc:sldMasterMkLst>
        <pc:sldLayoutChg chg="setBg">
          <pc:chgData name="Vidhi Mahajan" userId="508cbd52192b37ae" providerId="LiveId" clId="{718129E0-92B2-46A6-A5A8-7A6677DF045C}" dt="2026-01-20T14:13:48.939" v="164"/>
          <pc:sldLayoutMkLst>
            <pc:docMk/>
            <pc:sldMasterMk cId="0" sldId="2147483680"/>
            <pc:sldLayoutMk cId="0" sldId="214748368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713160" y="3966840"/>
            <a:ext cx="7717320" cy="63756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59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63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5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64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76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100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713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18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703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6779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533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9908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422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095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11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1924200" y="1730880"/>
            <a:ext cx="5294880" cy="213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866001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5374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196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5806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9888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2260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5645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3104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89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624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755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3718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6521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03564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9015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0924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1507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title"/>
          </p:nvPr>
        </p:nvSpPr>
        <p:spPr>
          <a:xfrm>
            <a:off x="702000" y="1017360"/>
            <a:ext cx="4565520" cy="186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242375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142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9575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0143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297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3794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9363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376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726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1844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921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44050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994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450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5728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0015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6763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1924200" y="1730880"/>
            <a:ext cx="5294880" cy="213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0864454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1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1004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355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138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4395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368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3660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57456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659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09811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7133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29940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21730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2858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24669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6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43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5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2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0536-A046-276A-C05E-59BB971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1879600"/>
            <a:ext cx="6447501" cy="167640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           </a:t>
            </a:r>
            <a:r>
              <a:rPr lang="en-US" sz="4400" dirty="0"/>
              <a:t>Critical Thinking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153039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1702420" y="1733400"/>
            <a:ext cx="551738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Critical thinking is a disciplined process involving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analysis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evaluation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and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synthesis 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of information. It is essential for making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well-informed decisions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solving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complex problems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and fostering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clear understanding 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in professional environments. Developing these skills enhances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strategic thinking 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and reduces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bias in judgment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.</a:t>
            </a:r>
            <a:endParaRPr lang="fr-F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0" u="none" strike="noStrike" dirty="0">
                <a:solidFill>
                  <a:schemeClr val="accent2"/>
                </a:solidFill>
                <a:effectLst/>
                <a:uFillTx/>
                <a:latin typeface="Paytone One"/>
                <a:ea typeface="Paytone One"/>
              </a:rPr>
              <a:t>Introduction</a:t>
            </a:r>
            <a:endParaRPr lang="fr-FR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704879" y="2571750"/>
            <a:ext cx="5331647" cy="211919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Critical thinking is the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ability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 to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objectively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 analyze facts to form a judgment. It involves questioning assumptions, evaluating evidence, and recognizing biases. Mastering this skill leads to better decision-making, improved problem-solving capabilities, and greater professional effectiveness.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0" name="PlaceHolder 1"/>
          <p:cNvSpPr>
            <a:spLocks noGrp="1"/>
          </p:cNvSpPr>
          <p:nvPr>
            <p:ph type="title"/>
          </p:nvPr>
        </p:nvSpPr>
        <p:spPr>
          <a:xfrm>
            <a:off x="704880" y="640019"/>
            <a:ext cx="5391120" cy="16173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accent2"/>
                </a:solidFill>
                <a:effectLst/>
                <a:uFillTx/>
                <a:latin typeface="Paytone One"/>
                <a:ea typeface="Paytone One"/>
              </a:rPr>
              <a:t>Definition and Importance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2" name="Google Shape;1275;p51"/>
          <p:cNvSpPr/>
          <p:nvPr/>
        </p:nvSpPr>
        <p:spPr>
          <a:xfrm>
            <a:off x="6096000" y="947894"/>
            <a:ext cx="2228892" cy="2308261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1494263" y="1733400"/>
            <a:ext cx="6051396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The key components of critical thinking include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analysis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evaluation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and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inference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. These allow individuals to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dissect information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assess credibility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and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draw logical conclusions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. Cultivating these elements promotes </a:t>
            </a:r>
            <a:r>
              <a:rPr lang="en-US" sz="1600" b="1" i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clarity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 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and </a:t>
            </a:r>
            <a:r>
              <a:rPr lang="en-US" sz="1600" b="1" i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accuracy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 in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reasoning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essential in corporate settings.</a:t>
            </a:r>
            <a:endParaRPr lang="fr-F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1"/>
          <p:cNvSpPr>
            <a:spLocks noGrp="1"/>
          </p:cNvSpPr>
          <p:nvPr>
            <p:ph type="title"/>
          </p:nvPr>
        </p:nvSpPr>
        <p:spPr>
          <a:xfrm>
            <a:off x="723960" y="334537"/>
            <a:ext cx="7705440" cy="8549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900" b="0" u="none" strike="noStrike" dirty="0">
                <a:solidFill>
                  <a:schemeClr val="accent2"/>
                </a:solidFill>
                <a:effectLst/>
                <a:uFillTx/>
                <a:latin typeface="Paytone One"/>
                <a:ea typeface="Paytone One"/>
              </a:rPr>
              <a:t>Key </a:t>
            </a:r>
            <a:r>
              <a:rPr lang="en-US" b="0" u="none" strike="noStrike" dirty="0">
                <a:solidFill>
                  <a:schemeClr val="accent2"/>
                </a:solidFill>
                <a:effectLst/>
                <a:uFillTx/>
                <a:latin typeface="Paytone One"/>
                <a:ea typeface="Paytone One"/>
              </a:rPr>
              <a:t>Components</a:t>
            </a:r>
            <a:endParaRPr lang="fr-FR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2"/>
          <p:cNvSpPr>
            <a:spLocks noGrp="1"/>
          </p:cNvSpPr>
          <p:nvPr>
            <p:ph type="body"/>
          </p:nvPr>
        </p:nvSpPr>
        <p:spPr>
          <a:xfrm>
            <a:off x="704879" y="2571750"/>
            <a:ext cx="5539803" cy="12419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Applying critical thinking in problem solving involves defining the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problem clearly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generating possible solutions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and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evaluating their effectiveness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. This approach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minimizes risks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 and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supports innovation 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by challenging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assumptions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encouraging creativity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, and ensuring decisions are based on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evidence and logic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/>
                <a:ea typeface="Quest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9" name="PlaceHolder 1"/>
          <p:cNvSpPr>
            <a:spLocks noGrp="1"/>
          </p:cNvSpPr>
          <p:nvPr>
            <p:ph type="title"/>
          </p:nvPr>
        </p:nvSpPr>
        <p:spPr>
          <a:xfrm>
            <a:off x="704880" y="728546"/>
            <a:ext cx="4562280" cy="17470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accent2"/>
                </a:solidFill>
                <a:effectLst/>
                <a:uFillTx/>
                <a:latin typeface="Paytone One"/>
                <a:ea typeface="Paytone One"/>
              </a:rPr>
              <a:t>Application in Problem Solving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1" name="Google Shape;1275;p51"/>
          <p:cNvSpPr/>
          <p:nvPr/>
        </p:nvSpPr>
        <p:spPr>
          <a:xfrm>
            <a:off x="5912862" y="1074275"/>
            <a:ext cx="2526258" cy="2508983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405FD0-0D07-83EB-02EF-AC15EF83D4E8}"/>
              </a:ext>
            </a:extLst>
          </p:cNvPr>
          <p:cNvSpPr txBox="1"/>
          <p:nvPr/>
        </p:nvSpPr>
        <p:spPr>
          <a:xfrm>
            <a:off x="457202" y="966439"/>
            <a:ext cx="720740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600" b="1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Clarity:  </a:t>
            </a:r>
            <a:r>
              <a:rPr lang="en-US" sz="1400" b="0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Ensuring ideas are expressed clearly and without ambiguity, by defining terms and understanding the problem at hand.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400" b="0" i="0" dirty="0">
              <a:solidFill>
                <a:schemeClr val="accent2"/>
              </a:solidFill>
              <a:effectLst/>
              <a:latin typeface="Questrial" pitchFamily="2" charset="0"/>
              <a:ea typeface="Questrial" pitchFamily="2" charset="0"/>
              <a:cs typeface="Questrial" pitchFamily="2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600" b="1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Accuracy:  </a:t>
            </a:r>
            <a:r>
              <a:rPr lang="en-US" sz="1400" b="0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Verifying the truthfulness of information and claims, questioning the validity of sources and seeking evidence.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400" b="0" i="0" dirty="0">
              <a:solidFill>
                <a:schemeClr val="accent2"/>
              </a:solidFill>
              <a:effectLst/>
              <a:latin typeface="Questrial" pitchFamily="2" charset="0"/>
              <a:ea typeface="Questrial" pitchFamily="2" charset="0"/>
              <a:cs typeface="Questrial" pitchFamily="2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600" b="1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Precision:  </a:t>
            </a:r>
            <a:r>
              <a:rPr lang="en-US" sz="1400" b="0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Providing detailed and exact information to support arguments, avoiding generalizations and misunderstandings.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400" b="0" i="0" dirty="0">
              <a:solidFill>
                <a:schemeClr val="accent2"/>
              </a:solidFill>
              <a:effectLst/>
              <a:latin typeface="Questrial" pitchFamily="2" charset="0"/>
              <a:ea typeface="Questrial" pitchFamily="2" charset="0"/>
              <a:cs typeface="Questrial" pitchFamily="2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600" b="1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Relevance:  </a:t>
            </a:r>
            <a:r>
              <a:rPr lang="en-US" sz="1400" b="0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Focusing on information that directly pertains to the issue, assessing whether it contributes to solving the problem.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400" b="0" i="0" dirty="0">
              <a:solidFill>
                <a:schemeClr val="accent2"/>
              </a:solidFill>
              <a:effectLst/>
              <a:latin typeface="Questrial" pitchFamily="2" charset="0"/>
              <a:ea typeface="Questrial" pitchFamily="2" charset="0"/>
              <a:cs typeface="Questrial" pitchFamily="2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600" b="1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Depth:  </a:t>
            </a:r>
            <a:r>
              <a:rPr lang="en-US" sz="1400" b="0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Recognizing the complexities of issues and considering multiple factors that may influence outcomes.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endParaRPr lang="en-US" sz="1400" b="0" i="0" dirty="0">
              <a:solidFill>
                <a:schemeClr val="accent2"/>
              </a:solidFill>
              <a:effectLst/>
              <a:latin typeface="Questrial" pitchFamily="2" charset="0"/>
              <a:ea typeface="Questrial" pitchFamily="2" charset="0"/>
              <a:cs typeface="Questrial" pitchFamily="2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600" b="1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Breadth:  </a:t>
            </a:r>
            <a:r>
              <a:rPr lang="en-US" sz="1400" b="0" i="0" dirty="0">
                <a:solidFill>
                  <a:schemeClr val="accent2"/>
                </a:solidFill>
                <a:effectLst/>
                <a:latin typeface="Questrial" pitchFamily="2" charset="0"/>
                <a:ea typeface="Questrial" pitchFamily="2" charset="0"/>
                <a:cs typeface="Questrial" pitchFamily="2" charset="0"/>
              </a:rPr>
              <a:t>Considering different viewpoints and perspectives to gain a comprehensive understanding of the issue.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635C-65C6-71DA-B9EA-0ECA1AA3A46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468351"/>
            <a:ext cx="8229240" cy="60216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8000" dirty="0">
                <a:solidFill>
                  <a:schemeClr val="accent2"/>
                </a:solidFill>
                <a:latin typeface="Paytone One"/>
              </a:rPr>
              <a:t>Key Principles of Critical Thinking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59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7792-54EE-2C7E-1745-05DAA817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2">
            <a:extLst>
              <a:ext uri="{FF2B5EF4-FFF2-40B4-BE49-F238E27FC236}">
                <a16:creationId xmlns:a16="http://schemas.microsoft.com/office/drawing/2014/main" id="{1510DFC5-2446-240C-6C62-201F66017BD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4880" y="2341756"/>
            <a:ext cx="5346516" cy="18957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Reasoning is the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act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 of using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existing information 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to reach a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conclusion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, make a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prediction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, or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construct an explanation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. In logic, we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evaluate reasoning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 based on how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strongly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 the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premises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support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 the </a:t>
            </a:r>
            <a:r>
              <a:rPr lang="en-US" sz="1600" b="1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conclusion</a:t>
            </a:r>
            <a:r>
              <a:rPr lang="en-US" sz="1600" b="0" u="none" strike="noStrike" dirty="0">
                <a:solidFill>
                  <a:schemeClr val="accent2"/>
                </a:solidFill>
                <a:effectLst/>
                <a:uFillTx/>
                <a:latin typeface="Questrial" pitchFamily="2" charset="0"/>
                <a:ea typeface="Questrial" pitchFamily="2" charset="0"/>
                <a:cs typeface="Questrial" pitchFamily="2" charset="0"/>
              </a:rPr>
              <a:t>. </a:t>
            </a:r>
          </a:p>
        </p:txBody>
      </p:sp>
      <p:sp>
        <p:nvSpPr>
          <p:cNvPr id="929" name="PlaceHolder 1">
            <a:extLst>
              <a:ext uri="{FF2B5EF4-FFF2-40B4-BE49-F238E27FC236}">
                <a16:creationId xmlns:a16="http://schemas.microsoft.com/office/drawing/2014/main" id="{26E698F3-9F92-C068-D439-4E29EC47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80" y="728546"/>
            <a:ext cx="4562280" cy="13604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u="none" strike="noStrike" dirty="0">
                <a:solidFill>
                  <a:schemeClr val="accent2"/>
                </a:solidFill>
                <a:effectLst/>
                <a:uFillTx/>
                <a:latin typeface="Paytone One"/>
              </a:rPr>
              <a:t>Reasoning</a:t>
            </a:r>
          </a:p>
        </p:txBody>
      </p:sp>
      <p:pic>
        <p:nvPicPr>
          <p:cNvPr id="1026" name="Picture 2" descr="Logical Reasoning Questions and Answers - GeeksforGeeks">
            <a:extLst>
              <a:ext uri="{FF2B5EF4-FFF2-40B4-BE49-F238E27FC236}">
                <a16:creationId xmlns:a16="http://schemas.microsoft.com/office/drawing/2014/main" id="{232902EC-913C-ADA3-508E-F79ABE91D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488" y="-52039"/>
            <a:ext cx="3256156" cy="53228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50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DC545B-4ADE-CE9D-8DC2-090771826AAE}"/>
              </a:ext>
            </a:extLst>
          </p:cNvPr>
          <p:cNvSpPr txBox="1"/>
          <p:nvPr/>
        </p:nvSpPr>
        <p:spPr>
          <a:xfrm>
            <a:off x="496277" y="299173"/>
            <a:ext cx="6607712" cy="421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sng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Deductive Reasoning (Certainty) </a:t>
            </a:r>
          </a:p>
          <a:p>
            <a:pPr marL="0"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Deductive reasoning moves from </a:t>
            </a: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general principles 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to a </a:t>
            </a: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specific conclusion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. If the premises are true and the structure is correct, the conclusion must be true. It aims for 100% certainty. </a:t>
            </a:r>
          </a:p>
          <a:p>
            <a:pPr marL="0"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	Key Concept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Validity 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- An argument is "valid" if the conclusion follows logically from the premises, even if the premises themselves are factually false.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Soundness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-  An argument is "sound" only if it is valid and the premises are factually true.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accent2"/>
              </a:solidFill>
              <a:latin typeface="Questrial" pitchFamily="2" charset="0"/>
              <a:ea typeface="Questrial" pitchFamily="2" charset="0"/>
              <a:cs typeface="Questrial" pitchFamily="2" charset="0"/>
            </a:endParaRPr>
          </a:p>
          <a:p>
            <a:pPr marL="0"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sng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Inductive Reasoning (Probability) </a:t>
            </a:r>
          </a:p>
          <a:p>
            <a:pPr marL="0"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Inductive reasoning moves from </a:t>
            </a: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specific observations 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to a </a:t>
            </a: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general conclusion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. It doesn't claim to be 100% certain; instead, it claims that the conclusion is likely or probable. </a:t>
            </a:r>
          </a:p>
          <a:p>
            <a:pPr marL="0"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	</a:t>
            </a: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Key Concept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Strength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- We don't call inductive arguments "valid"; we call them strong or weak based on how likely the conclusion is.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en-US" sz="1200" b="1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Cogency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-  </a:t>
            </a:r>
            <a:r>
              <a:rPr lang="en-US" sz="1200" dirty="0" err="1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Aninductive</a:t>
            </a:r>
            <a:r>
              <a:rPr lang="en-US" sz="1200" dirty="0">
                <a:solidFill>
                  <a:schemeClr val="accent2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argument is "cogent" if it is strong and the premises are actually true. </a:t>
            </a:r>
          </a:p>
        </p:txBody>
      </p:sp>
    </p:spTree>
    <p:extLst>
      <p:ext uri="{BB962C8B-B14F-4D97-AF65-F5344CB8AC3E}">
        <p14:creationId xmlns:p14="http://schemas.microsoft.com/office/powerpoint/2010/main" val="100231040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Thesis Defense by Slidesgo">
  <a:themeElements>
    <a:clrScheme name="Simple Light">
      <a:dk1>
        <a:srgbClr val="191919"/>
      </a:dk1>
      <a:lt1>
        <a:srgbClr val="FFFFFF"/>
      </a:lt1>
      <a:dk2>
        <a:srgbClr val="595959"/>
      </a:dk2>
      <a:lt2>
        <a:srgbClr val="EEEEEE"/>
      </a:lt2>
      <a:accent1>
        <a:srgbClr val="F9D4D0"/>
      </a:accent1>
      <a:accent2>
        <a:srgbClr val="EA5458"/>
      </a:accent2>
      <a:accent3>
        <a:srgbClr val="FEF2F0"/>
      </a:accent3>
      <a:accent4>
        <a:srgbClr val="FFFFFF"/>
      </a:accent4>
      <a:accent5>
        <a:srgbClr val="F9D4D0"/>
      </a:accent5>
      <a:accent6>
        <a:srgbClr val="EA5458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6.xml><?xml version="1.0" encoding="utf-8"?>
<a:theme xmlns:a="http://schemas.openxmlformats.org/drawingml/2006/main" name="3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522</Words>
  <Application>Microsoft Office PowerPoint</Application>
  <PresentationFormat>On-screen Show (16:9)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Arial</vt:lpstr>
      <vt:lpstr>Courier New</vt:lpstr>
      <vt:lpstr>OpenSymbol</vt:lpstr>
      <vt:lpstr>Paytone One</vt:lpstr>
      <vt:lpstr>Questrial</vt:lpstr>
      <vt:lpstr>Symbol</vt:lpstr>
      <vt:lpstr>Trebuchet MS</vt:lpstr>
      <vt:lpstr>Wingdings</vt:lpstr>
      <vt:lpstr>Wingdings 3</vt:lpstr>
      <vt:lpstr>Minimalist Thesis Defense by Slidesgo</vt:lpstr>
      <vt:lpstr>Slidesgo Final Pages</vt:lpstr>
      <vt:lpstr>Facet</vt:lpstr>
      <vt:lpstr>1_Facet</vt:lpstr>
      <vt:lpstr>2_Facet</vt:lpstr>
      <vt:lpstr>3_Facet</vt:lpstr>
      <vt:lpstr>             Critical Thinking</vt:lpstr>
      <vt:lpstr>Introduction</vt:lpstr>
      <vt:lpstr>Definition and Importance</vt:lpstr>
      <vt:lpstr>Key Components</vt:lpstr>
      <vt:lpstr>Application in Problem Solving</vt:lpstr>
      <vt:lpstr>PowerPoint Presentation</vt:lpstr>
      <vt:lpstr>Reasoning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Kshitij Malhotra</cp:lastModifiedBy>
  <cp:revision>2</cp:revision>
  <dcterms:modified xsi:type="dcterms:W3CDTF">2026-02-11T19:20:16Z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2026-01-20T07:53:12Z</dcterms:created>
  <dc:creator>Unknown Creator</dc:creator>
  <dc:description/>
  <dc:language>en-US</dc:language>
  <cp:lastModifiedBy>Unknown Creator</cp:lastModifiedBy>
  <dcterms:modified xsi:type="dcterms:W3CDTF">2026-01-20T07:53:12Z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8</vt:r8>
  </property>
</Properties>
</file>